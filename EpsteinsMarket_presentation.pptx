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22"/>
  </p:notesMasterIdLst>
  <p:sldIdLst>
    <p:sldId id="256" r:id="rId2"/>
    <p:sldId id="301" r:id="rId3"/>
    <p:sldId id="280" r:id="rId4"/>
    <p:sldId id="283" r:id="rId5"/>
    <p:sldId id="284" r:id="rId6"/>
    <p:sldId id="285" r:id="rId7"/>
    <p:sldId id="286" r:id="rId8"/>
    <p:sldId id="288" r:id="rId9"/>
    <p:sldId id="287" r:id="rId10"/>
    <p:sldId id="296" r:id="rId11"/>
    <p:sldId id="297" r:id="rId12"/>
    <p:sldId id="298" r:id="rId13"/>
    <p:sldId id="299" r:id="rId14"/>
    <p:sldId id="300" r:id="rId15"/>
    <p:sldId id="289" r:id="rId16"/>
    <p:sldId id="290" r:id="rId17"/>
    <p:sldId id="292" r:id="rId18"/>
    <p:sldId id="293" r:id="rId19"/>
    <p:sldId id="294" r:id="rId20"/>
    <p:sldId id="29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  <p1510:client id="{A1DC1D24-4066-1E2B-30A6-F858AD933DD1}" v="72" dt="2025-12-10T19:11:39.352"/>
    <p1510:client id="{BE44F5B7-D01D-4AFE-4321-9FA1D369578E}" v="3" dt="2025-12-10T19:24:40.681"/>
    <p1510:client id="{BFEDC584-485D-D9B9-42A8-2E7902376A96}" v="136" dt="2025-12-10T19:10:0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97893" y="2452722"/>
            <a:ext cx="6570304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десктопного приложения на базе WPF и Entity Framework для интернет-магазина EpsteinsMarket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83045" y="5376819"/>
            <a:ext cx="4874922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Гридасов Даниил Евгеньевич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6383045" y="5926157"/>
            <a:ext cx="2114303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97893" y="2452722"/>
            <a:ext cx="6570304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десктопного приложения на базе WPF и Entity Framework для интернет-магазина EpsteinsMarket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83045" y="5376819"/>
            <a:ext cx="4874922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Гридасов Даниил Евгеньевич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6383045" y="5926157"/>
            <a:ext cx="2114303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0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298448" y="3556545"/>
            <a:ext cx="8672763" cy="982578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298448" y="2014723"/>
            <a:ext cx="8672763" cy="982578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практике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518910" y="2014723"/>
            <a:ext cx="8452301" cy="982578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634319" y="1920083"/>
            <a:ext cx="570503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Срок прохождения практики</a:t>
            </a:r>
            <a:r>
              <a:rPr lang="ru-RU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rtl="0"/>
            <a:r>
              <a:rPr lang="ru-RU" sz="16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30</a:t>
            </a:r>
            <a:r>
              <a:rPr lang="ru-RU" sz="16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.03.2026</a:t>
            </a:r>
            <a:r>
              <a:rPr lang="ru-RU" sz="1600" baseline="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ru-RU" sz="16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- </a:t>
            </a:r>
            <a:r>
              <a:rPr lang="ru-RU" sz="1600" baseline="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24</a:t>
            </a:r>
            <a:r>
              <a:rPr lang="ru-RU" sz="16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.04.2026</a:t>
            </a:r>
            <a:endParaRPr lang="ru-RU" sz="1600" baseline="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518910" y="3556545"/>
            <a:ext cx="8452301" cy="982578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634319" y="3444342"/>
            <a:ext cx="720784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Тема практики</a:t>
            </a:r>
            <a:r>
              <a:rPr lang="ru-RU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r>
              <a:rPr lang="ru-RU" sz="1600" dirty="0">
                <a:latin typeface="Times New Roman"/>
                <a:ea typeface="Arial"/>
                <a:cs typeface="Arial"/>
              </a:rPr>
              <a:t>Разработка </a:t>
            </a:r>
            <a:r>
              <a:rPr lang="ru-RU" sz="1600" dirty="0" err="1">
                <a:latin typeface="Times New Roman"/>
                <a:ea typeface="Arial"/>
                <a:cs typeface="Arial"/>
              </a:rPr>
              <a:t>десктопного</a:t>
            </a:r>
            <a:r>
              <a:rPr lang="ru-RU" sz="1600" dirty="0">
                <a:latin typeface="Times New Roman"/>
                <a:ea typeface="Arial"/>
                <a:cs typeface="Arial"/>
              </a:rPr>
              <a:t> приложения на базе WPF и </a:t>
            </a:r>
            <a:r>
              <a:rPr lang="ru-RU" sz="1600" dirty="0" err="1">
                <a:latin typeface="Times New Roman"/>
                <a:ea typeface="Arial"/>
                <a:cs typeface="Arial"/>
              </a:rPr>
              <a:t>Entity</a:t>
            </a:r>
            <a:r>
              <a:rPr lang="ru-RU" sz="1600" dirty="0">
                <a:latin typeface="Times New Roman"/>
                <a:ea typeface="Arial"/>
                <a:cs typeface="Arial"/>
              </a:rPr>
              <a:t> </a:t>
            </a:r>
            <a:r>
              <a:rPr lang="ru-RU" sz="1600" dirty="0" err="1">
                <a:latin typeface="Times New Roman"/>
                <a:ea typeface="Arial"/>
                <a:cs typeface="Arial"/>
              </a:rPr>
              <a:t>Framework</a:t>
            </a:r>
            <a:r>
              <a:rPr lang="ru-RU" sz="1600" dirty="0">
                <a:latin typeface="Times New Roman"/>
                <a:ea typeface="Arial"/>
                <a:cs typeface="Arial"/>
              </a:rPr>
              <a:t> для интернет-магазина </a:t>
            </a:r>
            <a:r>
              <a:rPr lang="ru-RU" sz="1600" dirty="0" err="1">
                <a:latin typeface="Times New Roman"/>
                <a:ea typeface="Arial"/>
                <a:cs typeface="Arial"/>
              </a:rPr>
              <a:t>EpsteinsMarket</a:t>
            </a:r>
            <a:r>
              <a:rPr lang="ru-RU" sz="1600" dirty="0">
                <a:latin typeface="Times New Roman"/>
                <a:ea typeface="Arial"/>
                <a:cs typeface="Arial"/>
              </a:rPr>
              <a:t> (WPF, .NET </a:t>
            </a:r>
            <a:r>
              <a:rPr lang="ru-RU" sz="1600" dirty="0" err="1">
                <a:latin typeface="Times New Roman"/>
                <a:ea typeface="Arial"/>
                <a:cs typeface="Arial"/>
              </a:rPr>
              <a:t>Framework</a:t>
            </a:r>
            <a:r>
              <a:rPr lang="ru-RU" sz="1600" dirty="0">
                <a:latin typeface="Times New Roman"/>
                <a:ea typeface="Arial"/>
                <a:cs typeface="Arial"/>
              </a:rPr>
              <a:t>, MS SQL </a:t>
            </a:r>
            <a:r>
              <a:rPr lang="ru-RU" sz="1600" dirty="0" err="1">
                <a:latin typeface="Times New Roman"/>
                <a:ea typeface="Arial"/>
                <a:cs typeface="Arial"/>
              </a:rPr>
              <a:t>Server</a:t>
            </a:r>
            <a:r>
              <a:rPr lang="ru-RU" sz="1600" dirty="0">
                <a:latin typeface="Times New Roman"/>
                <a:ea typeface="Arial"/>
                <a:cs typeface="Arial"/>
              </a:rPr>
              <a:t>)</a:t>
            </a:r>
          </a:p>
          <a:p>
            <a:pPr rtl="0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практики</a:t>
            </a:r>
            <a:endParaRPr lang="ru-R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370124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Цель практики</a:t>
            </a:r>
            <a:r>
              <a:rPr lang="ru-RU" sz="2000" b="1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Разработка настольного WPF-приложения </a:t>
            </a:r>
            <a:r>
              <a:rPr lang="ru-RU" sz="1600" dirty="0" err="1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EpsteinsMarket</a:t>
            </a: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— система интернет-магазина на .NET </a:t>
            </a:r>
            <a:r>
              <a:rPr lang="ru-RU" sz="1600" dirty="0" err="1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Framework</a:t>
            </a: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с каталогом, заказами и PDF-квитанциями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.</a:t>
            </a:r>
            <a:endParaRPr lang="ru-RU" sz="1600" baseline="0" dirty="0" smtClean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 smtClean="0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Основные задачи</a:t>
            </a:r>
            <a:endParaRPr lang="en-US" sz="2000" b="1" dirty="0">
              <a:solidFill>
                <a:srgbClr val="0891B2"/>
              </a:solidFill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1012657" y="3819855"/>
            <a:ext cx="916766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реляционной БД и интеграция с MS SQL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многостраничного WPF-интерфейса (11 страниц) с навигацией через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централизованной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логин,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телефон, цена);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ролевой модели (Администратор / Пользователь) и системы блокировки аккаунтов;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745770" y="4759933"/>
            <a:ext cx="650287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1: Проектирование базы данных</a:t>
            </a:r>
            <a:endParaRPr lang="ru-RU" sz="3200" b="1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30–31 марта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38575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Проанализирована предметная область — интернет-магазин с каталогом, брендами, категориями, заказами, корзиной;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Спроектированы 13 сущностей: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CartItems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Receipts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ProductImages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ProductStatuses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OrderStatuses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связи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базе данных.</a:t>
            </a:r>
            <a:endParaRPr lang="ru-RU" sz="1600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932558" y="4785043"/>
            <a:ext cx="6316087" cy="996445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932557" y="4732546"/>
            <a:ext cx="6316088" cy="102155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 </a:t>
            </a:r>
          </a:p>
          <a:p>
            <a:r>
              <a:rPr lang="ru-RU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Сформирована и проверена структура базы данных </a:t>
            </a:r>
            <a:r>
              <a:rPr lang="ru-RU" dirty="0" err="1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EpsteinsMarket</a:t>
            </a:r>
            <a:r>
              <a:rPr lang="ru-RU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646" y="1563640"/>
            <a:ext cx="3316738" cy="482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6091923" cy="96963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2: Создание базы данных и настройка окружения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1–3 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933489" y="2644029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Настроена строка подключения к MS SQL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App.config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EpsteinMarketDBEntities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EpsteinMarketDBEntities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DbContext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LazyLoading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ProxyCreation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подключение через модель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ADO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 EDM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начальное заполнение через SQL-скрипты: роли, статусы, категории, тестовые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7029489" y="3504813"/>
            <a:ext cx="4794688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7197722" y="3504813"/>
            <a:ext cx="4667557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7197722" y="3456801"/>
            <a:ext cx="5099053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 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создана, все миграции применены, начальные данные загружены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6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2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3042075" y="5251346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9033162" y="4912792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6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575" y="2093463"/>
            <a:ext cx="3191320" cy="261021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72" y="1998251"/>
            <a:ext cx="6059445" cy="28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642600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3: Разработка функционала</a:t>
            </a:r>
            <a:endParaRPr lang="ru-RU" sz="3200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4 -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7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564077" y="2507228"/>
            <a:ext cx="811319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пользовательские страницы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AutorizationPage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RegisterPage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CatalogPage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(проверка логина/пароля + блокировка) и регистрация с созданием корзины;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каталог с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фильтрацией/сортировкой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1001486" y="5110752"/>
            <a:ext cx="5225142" cy="113397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1169719" y="5110753"/>
            <a:ext cx="5086598" cy="1133970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1294014" y="5081829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траницы работают исправно и выполняют свои задачи.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3 :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1379749" y="4765728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№1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5059897" y="5267381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№2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126" y="1715071"/>
            <a:ext cx="2915000" cy="355231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02" y="2248523"/>
            <a:ext cx="2972105" cy="248540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096" y="2248523"/>
            <a:ext cx="3806080" cy="23253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9231084" y="4603859"/>
            <a:ext cx="15226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</a:t>
            </a:r>
            <a:r>
              <a:rPr lang="ru-RU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№</a:t>
            </a:r>
            <a:r>
              <a:rPr lang="en-US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3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38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642600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функционала</a:t>
            </a:r>
            <a:endParaRPr lang="ru-RU" sz="3200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ru-RU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</a:t>
            </a:r>
            <a:r>
              <a:rPr lang="ru-RU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933489" y="2446211"/>
            <a:ext cx="79533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пользовательские страницы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CartPage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ProductDetailsPage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ProfilePage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OrderDetailsPage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корзина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оформление заказа, детали товара с галереей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фото.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1001486" y="4357338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1169719" y="4357338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1294014" y="4419520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траницы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работают исправно и выполняют свои задачи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9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27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2401666" y="4671511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№1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8396148" y="5123947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№2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10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9231084" y="4603859"/>
            <a:ext cx="15226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</a:t>
            </a:r>
            <a:r>
              <a:rPr lang="ru-RU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№</a:t>
            </a:r>
            <a:r>
              <a:rPr lang="en-US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3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44" y="1680318"/>
            <a:ext cx="5866924" cy="344362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2" y="1680318"/>
            <a:ext cx="5060681" cy="299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2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этапа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6A7E8-3B9F-CDFE-CFEE-EB03E349FFD6}"/>
              </a:ext>
            </a:extLst>
          </p:cNvPr>
          <p:cNvSpPr txBox="1"/>
          <p:nvPr/>
        </p:nvSpPr>
        <p:spPr>
          <a:xfrm>
            <a:off x="2401666" y="4671511"/>
            <a:ext cx="144681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</a:t>
            </a:r>
            <a:r>
              <a:rPr lang="ru-RU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№</a:t>
            </a:r>
            <a:r>
              <a:rPr lang="en-US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8396148" y="5123947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</a:t>
            </a:r>
            <a:r>
              <a:rPr lang="ru-RU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№</a:t>
            </a:r>
            <a:r>
              <a:rPr lang="en-US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11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9231084" y="4603859"/>
            <a:ext cx="15226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Скриншот </a:t>
            </a:r>
            <a:r>
              <a:rPr lang="ru-RU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№</a:t>
            </a:r>
            <a:r>
              <a:rPr lang="en-US" sz="160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3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44" y="1680318"/>
            <a:ext cx="5866924" cy="34436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4" y="1795099"/>
            <a:ext cx="4882696" cy="287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1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642600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функционала</a:t>
            </a:r>
            <a:endParaRPr lang="ru-RU" sz="3200" dirty="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ru-RU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ru-RU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</a:t>
            </a:r>
            <a:r>
              <a:rPr lang="ru-RU" b="1" dirty="0" smtClean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933489" y="2446211"/>
            <a:ext cx="795333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административные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AdminProductsPage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CRUD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AddEditProductPage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AdminOrdersPage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AdminUsersPage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1001486" y="4357338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1169719" y="4357338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1294014" y="4419520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траницы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работают исправно и выполняют свои задачи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12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71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F75A-F75D-0D32-376B-25BC6BCE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D2253D-8545-38F1-DD46-4370592D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en-US" sz="3200" b="1" dirty="0">
                <a:latin typeface="Times New Roman"/>
                <a:cs typeface="Times New Roman"/>
              </a:rPr>
              <a:t>5</a:t>
            </a:r>
            <a:r>
              <a:rPr lang="ru-RU" sz="3200" b="1" dirty="0">
                <a:latin typeface="Times New Roman"/>
                <a:cs typeface="Times New Roman"/>
              </a:rPr>
              <a:t>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2348994" y="5134412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</a:t>
            </a:r>
            <a:r>
              <a:rPr lang="en-US" sz="1600" dirty="0" smtClean="0">
                <a:latin typeface="Times New Roman"/>
                <a:ea typeface="Calibri"/>
                <a:cs typeface="Calibri"/>
              </a:rPr>
              <a:t>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9EFF2-5B3B-D64C-533F-91DB5B99012C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Times New Roman"/>
                <a:ea typeface="Calibri"/>
                <a:cs typeface="Calibri"/>
              </a:rPr>
              <a:t>13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3" y="1542645"/>
            <a:ext cx="5906219" cy="359176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01" y="1542645"/>
            <a:ext cx="5842320" cy="35627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CEB5EF-62DC-33E7-2DF1-F0AD5FB9D13B}"/>
              </a:ext>
            </a:extLst>
          </p:cNvPr>
          <p:cNvSpPr txBox="1"/>
          <p:nvPr/>
        </p:nvSpPr>
        <p:spPr>
          <a:xfrm>
            <a:off x="8449103" y="5105432"/>
            <a:ext cx="14369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</a:t>
            </a:r>
            <a:r>
              <a:rPr lang="en-US" sz="1600" dirty="0">
                <a:latin typeface="Times New Roman"/>
                <a:ea typeface="Calibri"/>
                <a:cs typeface="Calibri"/>
              </a:rPr>
              <a:t>2</a:t>
            </a:r>
            <a:endParaRPr lang="ru-RU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179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7655507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en-US" sz="3200" b="1" dirty="0" smtClean="0">
                <a:latin typeface="Times New Roman"/>
                <a:cs typeface="Times New Roman"/>
              </a:rPr>
              <a:t>6</a:t>
            </a:r>
            <a:r>
              <a:rPr lang="ru-RU" sz="3200" b="1" dirty="0" smtClean="0">
                <a:latin typeface="Times New Roman"/>
                <a:cs typeface="Times New Roman"/>
              </a:rPr>
              <a:t>: </a:t>
            </a:r>
            <a:r>
              <a:rPr lang="ru-RU" sz="3200" b="1" dirty="0">
                <a:latin typeface="Times New Roman"/>
                <a:cs typeface="Times New Roman"/>
              </a:rPr>
              <a:t>Валидация и безопасность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18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-24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4222774" cy="1498283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cs typeface="Segoe UI"/>
              </a:rPr>
              <a:t> </a:t>
            </a:r>
            <a:endParaRPr lang="ru-RU" dirty="0">
              <a:solidFill>
                <a:srgbClr val="0891B2"/>
              </a:solidFill>
              <a:latin typeface="Times New Roman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891B2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ru-RU" sz="1600" dirty="0"/>
              <a:t>Повышена надёжность и безопасность системы.</a:t>
            </a:r>
          </a:p>
          <a:p>
            <a:r>
              <a:rPr lang="ru-RU" sz="1400" b="1" dirty="0">
                <a:latin typeface="Times New Roman"/>
                <a:cs typeface="Times New Roman"/>
              </a:rPr>
              <a:t>Скриншот на сл. </a:t>
            </a:r>
            <a:r>
              <a:rPr lang="en-US" sz="1400" b="1" dirty="0" smtClean="0">
                <a:latin typeface="Times New Roman"/>
                <a:cs typeface="Times New Roman"/>
              </a:rPr>
              <a:t>15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Times New Roman"/>
                <a:ea typeface="Calibri"/>
                <a:cs typeface="Calibri"/>
              </a:rPr>
              <a:t>14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7B1A1-F5F5-D20E-B32C-CF868DAD0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1179" y="-13804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Отработана корректность удаления клиента (тестирование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 DELETE CASCADE);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489" y="2104744"/>
            <a:ext cx="70579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InputValidationHelper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Regex););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 подробные сообщения об ошибках на русском языке;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Настроена проверка формата логина,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телефона (+7XXXXXXXXXX) и цены;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защита: проверка ролей при входе на страницы администратора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чек и генерация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кода для него 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71D2-C706-4544-F46B-BEB5C0AF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5BC9A27-E79D-A467-07C0-951E4739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4 : 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27990-0C0E-689B-0F1C-46A20086A6D3}"/>
              </a:ext>
            </a:extLst>
          </p:cNvPr>
          <p:cNvSpPr txBox="1"/>
          <p:nvPr/>
        </p:nvSpPr>
        <p:spPr>
          <a:xfrm>
            <a:off x="2347332" y="5004901"/>
            <a:ext cx="15259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810AF-4B0F-876E-D7DE-EF2C26028AB1}"/>
              </a:ext>
            </a:extLst>
          </p:cNvPr>
          <p:cNvSpPr txBox="1"/>
          <p:nvPr/>
        </p:nvSpPr>
        <p:spPr>
          <a:xfrm>
            <a:off x="8209490" y="3582493"/>
            <a:ext cx="14765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B526A-1563-5476-B248-035EB61062A6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Times New Roman"/>
                <a:ea typeface="Calibri"/>
                <a:cs typeface="Calibri"/>
              </a:rPr>
              <a:t>15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7" y="1502761"/>
            <a:ext cx="5811110" cy="345998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04" y="1502761"/>
            <a:ext cx="5494872" cy="207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err="1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1894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Архитектура настольных WPF-приложений (MVVM-подход);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Паттерн Code Behind в </a:t>
            </a:r>
            <a:r>
              <a:rPr lang="en-US" sz="1600" dirty="0"/>
              <a:t>WPF-разработке;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Валидация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900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Разработка на WPF (.NET Framework)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Работа с </a:t>
            </a:r>
            <a:r>
              <a:rPr lang="en-US" sz="1600" dirty="0"/>
              <a:t>Entity Framework (Code First)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XAML-интерфейсов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Реализация авторизации и ролей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Генерация PDF-квитанций (</a:t>
            </a:r>
            <a:r>
              <a:rPr lang="en-US" sz="1600" dirty="0"/>
              <a:t>iTextSharp + </a:t>
            </a:r>
            <a:r>
              <a:rPr lang="ru-RU" sz="1600" dirty="0"/>
              <a:t>QRCoder)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настольное WPF-приложение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EpsteinsMarket;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12</a:t>
            </a: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768406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76840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382056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38205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4907455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4954791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1296390" y="1825831"/>
            <a:ext cx="826324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В ходе учебной практики было разработано полноценное десктопное приложение EpsteinsMarket на WPF (.NET Framework). </a:t>
            </a:r>
          </a:p>
          <a:p>
            <a:pPr marL="342900" indent="-342900" algn="just">
              <a:buAutoNum type="arabicPeriod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buAutoNum type="arabicPeriod"/>
            </a:pPr>
            <a:r>
              <a:rPr lang="ru-RU" dirty="0">
                <a:latin typeface="Times New Roman"/>
                <a:cs typeface="Times New Roman"/>
              </a:rPr>
              <a:t>Освоены навыки проектирования, разработки и тестирования настольного ПО.</a:t>
            </a:r>
          </a:p>
          <a:p>
            <a:pPr marL="342900" indent="-342900" algn="just">
              <a:buAutoNum type="arabicPeriod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В результате были закреплены теоретические знания и получены практические навыки разработки WPF-приложений, работы с базами данных MS SQL Server через Entity Framework.</a:t>
            </a:r>
          </a:p>
          <a:p>
            <a:pPr marL="342900" indent="-342900" algn="just">
              <a:buAutoNum type="arabicPeriod"/>
            </a:pPr>
            <a:endParaRPr lang="ru-RU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marL="342900" indent="-342900" algn="just">
              <a:buAutoNum type="arabicPeriod"/>
            </a:pPr>
            <a:r>
              <a:rPr lang="ru-RU" dirty="0"/>
              <a:t>В процессе работы выполнены все задачи: спроектирована база данных, разработан XAML-интерфейс, реализованы регистрация, авторизация, каталог товаров, корзина, оформление заказов и генерация PDF-квитанций.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5EED3-A571-AAAE-0A82-661237AE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1BA0E-6C1F-4EEF-1CDC-D7F891BCA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6053" y="2479355"/>
            <a:ext cx="6614693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  <a:r>
              <a:rPr lang="ru-RU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 прохождении учебной практики</a:t>
            </a:r>
            <a:br>
              <a:rPr lang="ru-RU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180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десктопного</a:t>
            </a:r>
            <a:r>
              <a:rPr lang="ru-RU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приложения на базе WPF и </a:t>
            </a:r>
            <a:r>
              <a:rPr lang="ru-RU" sz="180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ru-RU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интернет-магазина </a:t>
            </a:r>
            <a:r>
              <a:rPr lang="ru-RU" sz="180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EpsteinsMarket</a:t>
            </a:r>
            <a:endParaRPr lang="ru-RU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63462-960A-48D2-7FC1-9F261698D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9981" y="5376819"/>
            <a:ext cx="5167884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ФИО Гридасов Даниил Гридасов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9B8B13-8B7D-BB9E-53BC-D634F2B9201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2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7888</TotalTime>
  <Words>821</Words>
  <Application>Microsoft Office PowerPoint</Application>
  <PresentationFormat>Широкоэкранный</PresentationFormat>
  <Paragraphs>135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Arial Unicode MS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десктопного приложения на базе WPF и Entity Framework для интернет-магазина EpsteinsMarket</vt:lpstr>
      <vt:lpstr>ОТЧЕТ о прохождении учебной практики Разработка десктопного приложения на базе WPF и Entity Framework для интернет-магазина EpsteinsMarket</vt:lpstr>
      <vt:lpstr>Информация о практике</vt:lpstr>
      <vt:lpstr>Цели и задачи практики</vt:lpstr>
      <vt:lpstr>Этап 1: Проектирование базы данных</vt:lpstr>
      <vt:lpstr>Этап 2: Создание базы данных и настройка окружения</vt:lpstr>
      <vt:lpstr>Результаты этапа 2 : </vt:lpstr>
      <vt:lpstr>Этап 3: Разработка функционала</vt:lpstr>
      <vt:lpstr>Результаты этапа 3 : </vt:lpstr>
      <vt:lpstr>Этап 4: Разработка функционала</vt:lpstr>
      <vt:lpstr>Результаты этапа 4 : </vt:lpstr>
      <vt:lpstr>Результаты этапа 4 : </vt:lpstr>
      <vt:lpstr>Этап 5: Разработка функционала</vt:lpstr>
      <vt:lpstr>Результаты этапа 5 : </vt:lpstr>
      <vt:lpstr>Этап 6: Валидация и безопасность</vt:lpstr>
      <vt:lpstr>Результаты этапа 4 : 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десктопного приложения на базе WPF и Entity Framework для интернет-магазина EpsteinsMarket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Гридасов Даниил Евгеньевич</cp:lastModifiedBy>
  <cp:revision>867</cp:revision>
  <dcterms:created xsi:type="dcterms:W3CDTF">2023-01-30T07:02:12Z</dcterms:created>
  <dcterms:modified xsi:type="dcterms:W3CDTF">2026-04-23T12:44:09Z</dcterms:modified>
</cp:coreProperties>
</file>